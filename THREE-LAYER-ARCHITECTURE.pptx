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1717A"/>
                </a:solidFill>
                <a:latin typeface="Calibri"/>
              </a:defRPr>
            </a:pPr>
            <a:r>
              <a:t>Craftura.ai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4E4E7"/>
                </a:solidFill>
                <a:latin typeface="Calibri"/>
              </a:defRPr>
            </a:pPr>
            <a:r>
              <a:t>Three-Layer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5CF6"/>
                </a:solidFill>
                <a:latin typeface="Calibri"/>
              </a:defRPr>
            </a:pPr>
            <a:r>
              <a:t>Technical Reference with Code-Level Evidence and Industry Citations</a:t>
            </a:r>
          </a:p>
        </p:txBody>
      </p:sp>
      <p:sp>
        <p:nvSpPr>
          <p:cNvPr id="5" name="Oval 4"/>
          <p:cNvSpPr/>
          <p:nvPr/>
        </p:nvSpPr>
        <p:spPr>
          <a:xfrm>
            <a:off x="5029200" y="5303520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0" y="530352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0" y="530352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717A"/>
                </a:solidFill>
                <a:latin typeface="Calibri"/>
              </a:defRPr>
            </a:pPr>
            <a:r>
              <a:t>Runtime Orchestration  •  LLM Reasoning  •  Memory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4E7"/>
                </a:solidFill>
                <a:latin typeface="Calibri"/>
              </a:defRPr>
            </a:pPr>
            <a:r>
              <a:t>THE CORE ARGUMENT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32720" cy="2286000"/>
          </a:xfrm>
          <a:prstGeom prst="roundRect">
            <a:avLst/>
          </a:prstGeom>
          <a:solidFill>
            <a:srgbClr val="12121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4E4E7"/>
                </a:solidFill>
                <a:latin typeface="Calibri"/>
              </a:defRPr>
            </a:pPr>
            <a:r>
              <a:t>Supabase is NOT Jade's brain.</a:t>
            </a:r>
            <a:br/>
            <a:br/>
            <a:r>
              <a:t>Supabase is a PostgreSQL database that stores structured data with ACID guarantees.</a:t>
            </a:r>
            <a:br/>
            <a:r>
              <a:t>It does not reason, decide, classify, generate, or orchestrate.</a:t>
            </a:r>
            <a:br/>
            <a:r>
              <a:t>It stores and retrieves rows. That is the complete extent of its functionality.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THE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4E4E7"/>
                </a:solidFill>
                <a:latin typeface="Calibri"/>
              </a:defRPr>
            </a:pPr>
            <a:r>
              <a:t>"Supabase is Jade's brain"</a:t>
            </a:r>
            <a:br/>
            <a:br/>
            <a:r>
              <a:t>Technically incorrect: conflates storage with 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THE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572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4E4E7"/>
                </a:solidFill>
                <a:latin typeface="Calibri"/>
              </a:defRPr>
            </a:pPr>
            <a:r>
              <a:t>"Supabase stores Jade's memory"</a:t>
            </a:r>
            <a:br/>
            <a:br/>
            <a:r>
              <a:t>Technically correct: database provides persistent cross-session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THE IMPLICATION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572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4E4E7"/>
                </a:solidFill>
                <a:latin typeface="Calibri"/>
              </a:defRPr>
            </a:pPr>
            <a:r>
              <a:t>All three layers must be deployed and connected.</a:t>
            </a:r>
            <a:br/>
            <a:br/>
            <a:r>
              <a:t>A database alone does nothing without runtime + LLM.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4E7"/>
                </a:solidFill>
                <a:latin typeface="Calibri"/>
              </a:defRPr>
            </a:pPr>
            <a:r>
              <a:t>THE THREE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114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LAYER 1: AGENT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Python code that runs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Routes work between specialists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Manages pipeline state (StudioState)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Calls tools, APIs, databases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Enforces guardrails &amp; cost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Your code: CrafturaFlow, CrafturaCrew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4114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544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LAYER 2: LLM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Stateless reasoning via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3172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Analyzes, generates, decides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65176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Each call is independent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718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No memory between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9184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Rented compute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6118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Your stack: GPT-4, Claude, Gemini, llama.cpp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371600"/>
            <a:ext cx="3474720" cy="4114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137160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5544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LAYER 3: DATA &amp;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0116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Persistent storage across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33172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Structured data with ACID guarantees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65176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Identity, projects, conversations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9718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Audit trails &amp; 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29184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Row-level security for access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6118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Your schema: brain_profile, brain_projects,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CODE EVIDENCE: LAYER 1 —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craftura-agents/src/craftura_agents/main.py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6858000" cy="4114800"/>
          </a:xfrm>
          <a:prstGeom prst="roundRect">
            <a:avLst/>
          </a:prstGeom>
          <a:solidFill>
            <a:srgbClr val="0D0D14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4E4E7"/>
                </a:solidFill>
                <a:latin typeface="Consolas"/>
              </a:defRPr>
            </a:pPr>
            <a:r>
              <a:t>class CrafturaFlow(Flow[StudioState]):</a:t>
            </a:r>
            <a:br/>
            <a:r>
              <a:t>    """Jade Executive Assistant - Studio Orchestrator"""</a:t>
            </a:r>
            <a:br/>
            <a:br/>
            <a:r>
              <a:t>    @start()</a:t>
            </a:r>
            <a:br/>
            <a:r>
              <a:t>    def receive_lead(self):</a:t>
            </a:r>
            <a:br/>
            <a:r>
              <a:t>        self.state.current_stage = "intake"</a:t>
            </a:r>
            <a:br/>
            <a:br/>
            <a:r>
              <a:t>    @listen("classify_and_intake")</a:t>
            </a:r>
            <a:br/>
            <a:r>
              <a:t>    def route_by_project_type(self):</a:t>
            </a:r>
            <a:br/>
            <a:r>
              <a:t>        if self.state.project_type in ("existing_site", "redesign"):</a:t>
            </a:r>
            <a:br/>
            <a:r>
              <a:t>            self.state.current_stage = "audit"</a:t>
            </a:r>
            <a:br/>
            <a:br/>
            <a:r>
              <a:t>    @listen("franklin_build")</a:t>
            </a:r>
            <a:br/>
            <a:r>
              <a:t>    def run_qa(self):</a:t>
            </a:r>
            <a:br/>
            <a:r>
              <a:t>        result = self._get_crew().qa_crew().kickoff(inputs={...})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931920" cy="4114800"/>
          </a:xfrm>
          <a:prstGeom prst="roundRect">
            <a:avLst/>
          </a:prstGeom>
          <a:solidFill>
            <a:srgbClr val="12121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WHAT THIS CODE DOES: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4E4E7"/>
                </a:solidFill>
                <a:latin typeface="Calibri"/>
              </a:defRPr>
            </a:pPr>
            <a:r>
              <a:t>✓ Manages StudioState (30+ fields)</a:t>
            </a:r>
            <a:br/>
            <a:br/>
            <a:r>
              <a:t>✓ Routes leads through 10-stage pipeline</a:t>
            </a:r>
            <a:br/>
            <a:br/>
            <a:r>
              <a:t>✓ Enforces stage dependencies</a:t>
            </a:r>
            <a:br/>
            <a:br/>
            <a:r>
              <a:t>✓ Triggers escalation when needed</a:t>
            </a:r>
            <a:br/>
            <a:br/>
            <a:r>
              <a:t>✓ Calls crew methods for each stage</a:t>
            </a:r>
            <a:br/>
            <a:br/>
            <a:r>
              <a:t>✗ Does NOT perform reasoning</a:t>
            </a:r>
            <a:br/>
            <a:r>
              <a:t>✗ Does NOT store data</a:t>
            </a:r>
            <a:br/>
            <a:r>
              <a:t>✗ Is pure orchestration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CODE EVIDENCE: LAYER 2 — LLM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craftura-agents/src/craftura_agents/crews/craftura_crew/craftura_crew.py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6858000" cy="3200400"/>
          </a:xfrm>
          <a:prstGeom prst="roundRect">
            <a:avLst/>
          </a:prstGeom>
          <a:solidFill>
            <a:srgbClr val="0D0D14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309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4E4E7"/>
                </a:solidFill>
                <a:latin typeface="Consolas"/>
              </a:defRPr>
            </a:pPr>
            <a:r>
              <a:t>@agent</a:t>
            </a:r>
            <a:br/>
            <a:r>
              <a:t>def franklin(self) -&gt; Agent:</a:t>
            </a:r>
            <a:br/>
            <a:r>
              <a:t>    return Agent(</a:t>
            </a:r>
            <a:br/>
            <a:r>
              <a:t>        config=self.agents_config["franklin"],</a:t>
            </a:r>
            <a:br/>
            <a:r>
              <a:t>        verbose=True,</a:t>
            </a:r>
            <a:br/>
            <a:r>
              <a:t>        tools=[get_design_kit_reader_tool(),</a:t>
            </a:r>
            <a:br/>
            <a:r>
              <a:t>               get_pixabay_tool(),</a:t>
            </a:r>
            <a:br/>
            <a:r>
              <a:t>               get_flux_image_tool()],</a:t>
            </a:r>
            <a:br/>
            <a:r>
              <a:t>    )</a:t>
            </a:r>
            <a:br/>
            <a:br/>
            <a:r>
              <a:t>@crew</a:t>
            </a:r>
            <a:br/>
            <a:r>
              <a:t>def franklin_crew(self) -&gt; Crew:</a:t>
            </a:r>
            <a:br/>
            <a:r>
              <a:t>    return Crew(</a:t>
            </a:r>
            <a:br/>
            <a:r>
              <a:t>        agents=[self.franklin()],</a:t>
            </a:r>
            <a:br/>
            <a:r>
              <a:t>        tasks=[self.franklin_implementation_task()],</a:t>
            </a:r>
            <a:br/>
            <a:r>
              <a:t>        process=Process.sequential,</a:t>
            </a:r>
            <a:br/>
            <a:r>
              <a:t>    )</a:t>
            </a:r>
            <a:br/>
            <a:br/>
            <a:r>
              <a:t># CrewAI documentation:</a:t>
            </a:r>
            <a:br/>
            <a:r>
              <a:t># "Memory is a separate component configured</a:t>
            </a:r>
            <a:br/>
            <a:r>
              <a:t>#  independently from agents and crews."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931920" cy="3200400"/>
          </a:xfrm>
          <a:prstGeom prst="roundRect">
            <a:avLst/>
          </a:prstGeom>
          <a:solidFill>
            <a:srgbClr val="12121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WHAT THIS CODE DOES: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4E4E7"/>
                </a:solidFill>
                <a:latin typeface="Calibri"/>
              </a:defRPr>
            </a:pPr>
            <a:r>
              <a:t>✓ Defines agents with system prompts</a:t>
            </a:r>
            <a:br/>
            <a:br/>
            <a:r>
              <a:t>✓ Attaches tools for capability</a:t>
            </a:r>
            <a:br/>
            <a:br/>
            <a:r>
              <a:t>✓ Sends prompts to LLM APIs</a:t>
            </a:r>
            <a:br/>
            <a:br/>
            <a:r>
              <a:t>✓ Receives reasoning output</a:t>
            </a:r>
            <a:br/>
            <a:br/>
            <a:r>
              <a:t>✓ Memory is SEPARATE (CrewAI docs)</a:t>
            </a:r>
            <a:br/>
            <a:br/>
            <a:r>
              <a:t>✗ Agents ≠ memory</a:t>
            </a:r>
            <a:br/>
            <a:r>
              <a:t>✗ Agents ≠ storage</a:t>
            </a:r>
            <a:br/>
            <a:r>
              <a:t>✗ LLM is stateless by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20640"/>
            <a:ext cx="11247120" cy="1097280"/>
          </a:xfrm>
          <a:prstGeom prst="roundRect">
            <a:avLst/>
          </a:prstGeom>
          <a:solidFill>
            <a:srgbClr val="12121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CrewAI Documentation: "Memory is a separate component configured independently from agents and crews."</a:t>
            </a:r>
            <a:br/>
            <a:r>
              <a:t>Source: https://docs.crewai.com/en/concepts/memory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CODE EVIDENCE: LAYER 3 — MEMORY (SUPABASE)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jade-assistant/.../brain/jade-brain-v1.sql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6858000" cy="3840480"/>
          </a:xfrm>
          <a:prstGeom prst="roundRect">
            <a:avLst/>
          </a:prstGeom>
          <a:solidFill>
            <a:srgbClr val="0D0D14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30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4E4E7"/>
                </a:solidFill>
                <a:latin typeface="Consolas"/>
              </a:defRPr>
            </a:pPr>
            <a:r>
              <a:t>create table if not exists public.brain_profile (</a:t>
            </a:r>
            <a:br/>
            <a:r>
              <a:t>    id uuid primary key default gen_random_uuid(),</a:t>
            </a:r>
            <a:br/>
            <a:r>
              <a:t>    section text not null unique,</a:t>
            </a:r>
            <a:br/>
            <a:r>
              <a:t>    content jsonb not default '{}'::jsonb,</a:t>
            </a:r>
            <a:br/>
            <a:r>
              <a:t>);</a:t>
            </a:r>
            <a:br/>
            <a:br/>
            <a:r>
              <a:t>create or replace function public.load_brain()</a:t>
            </a:r>
            <a:br/>
            <a:r>
              <a:t>returns jsonb language sql stable</a:t>
            </a:r>
            <a:br/>
            <a:r>
              <a:t>as $$</a:t>
            </a:r>
            <a:br/>
            <a:r>
              <a:t>  -- Returns: identity, operating_style,</a:t>
            </a:r>
            <a:br/>
            <a:r>
              <a:t>  -- recent_sessions, open_action_items,</a:t>
            </a:r>
            <a:br/>
            <a:r>
              <a:t>  -- recent_references, active_projects</a:t>
            </a:r>
            <a:br/>
            <a:r>
              <a:t>  select jsonb_build_object(</a:t>
            </a:r>
            <a:br/>
            <a:r>
              <a:t>    'identity', (select content from brain_profile</a:t>
            </a:r>
            <a:br/>
            <a:r>
              <a:t>                where section = 'identity'),</a:t>
            </a:r>
            <a:br/>
            <a:r>
              <a:t>    ...</a:t>
            </a:r>
            <a:br/>
            <a:r>
              <a:t>  );</a:t>
            </a:r>
            <a:br/>
            <a:r>
              <a:t>$$;</a:t>
            </a:r>
            <a:br/>
            <a:br/>
            <a:r>
              <a:t>-- Tables: brain_profile, brain_projects,</a:t>
            </a:r>
            <a:br/>
            <a:r>
              <a:t>--         brain_conversations, brain_references,</a:t>
            </a:r>
            <a:br/>
            <a:r>
              <a:t>--         brain_action_log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931920" cy="3840480"/>
          </a:xfrm>
          <a:prstGeom prst="roundRect">
            <a:avLst/>
          </a:prstGeom>
          <a:solidFill>
            <a:srgbClr val="1212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WHAT THIS CODE 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4E4E7"/>
                </a:solidFill>
                <a:latin typeface="Calibri"/>
              </a:defRPr>
            </a:pPr>
            <a:r>
              <a:t>✓ PostgreSQL tables with JSONB</a:t>
            </a:r>
            <a:br/>
            <a:br/>
            <a:r>
              <a:t>✓ Standard SQL queries and indexes</a:t>
            </a:r>
            <a:br/>
            <a:br/>
            <a:r>
              <a:t>✓ Row-Level Security policies</a:t>
            </a:r>
            <a:br/>
            <a:br/>
            <a:r>
              <a:t>✓ Audit logging triggers</a:t>
            </a:r>
            <a:br/>
            <a:br/>
            <a:r>
              <a:t>✓ Data retrieval function</a:t>
            </a:r>
            <a:br/>
            <a:br/>
            <a:r>
              <a:t>✗ Zero AI capability</a:t>
            </a:r>
            <a:br/>
            <a:r>
              <a:t>✗ Zero reasoning</a:t>
            </a:r>
            <a:br/>
            <a:r>
              <a:t>✗ Zero decision-making</a:t>
            </a:r>
            <a:br/>
            <a:r>
              <a:t>✗ Standard database 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12121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Supabase: "Most agent stacks require a vector database, an auth provider, a file store, an API layer, and a separate Postgres instance."</a:t>
            </a:r>
            <a:br/>
            <a:r>
              <a:t>Source: https://supabase.com/solutions/agents — Positioned as data infrastructure, not intelligence.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4E7"/>
                </a:solidFill>
                <a:latin typeface="Calibri"/>
              </a:defRPr>
            </a:pPr>
            <a:r>
              <a:t>HOW THE LAYERS CONNECT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011680" cy="1097280"/>
          </a:xfrm>
          <a:prstGeom prst="roundRect">
            <a:avLst/>
          </a:prstGeom>
          <a:solidFill>
            <a:srgbClr val="12121A"/>
          </a:solidFill>
          <a:ln w="254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1717A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51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4E4E7"/>
                </a:solidFill>
                <a:latin typeface="Calibri"/>
              </a:defRPr>
            </a:pPr>
            <a:r>
              <a:t>Lead / Command</a:t>
            </a:r>
            <a:br/>
            <a:r>
              <a:t>Schedule / Webhook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286000"/>
            <a:ext cx="2011680" cy="1097280"/>
          </a:xfrm>
          <a:prstGeom prst="roundRect">
            <a:avLst/>
          </a:prstGeom>
          <a:solidFill>
            <a:srgbClr val="12121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651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4E4E7"/>
                </a:solidFill>
                <a:latin typeface="Calibri"/>
              </a:defRPr>
            </a:pPr>
            <a:r>
              <a:t>Agent Runtime</a:t>
            </a:r>
            <a:br/>
            <a:r>
              <a:t>CrafturaFlow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4E4E7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286000"/>
            <a:ext cx="2011680" cy="1097280"/>
          </a:xfrm>
          <a:prstGeom prst="roundRect">
            <a:avLst/>
          </a:prstGeom>
          <a:solidFill>
            <a:srgbClr val="12121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651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4E4E7"/>
                </a:solidFill>
                <a:latin typeface="Calibri"/>
              </a:defRPr>
            </a:pPr>
            <a:r>
              <a:t>LLM API</a:t>
            </a:r>
            <a:br/>
            <a:r>
              <a:t>GPT-4 / 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4E4E7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286000"/>
            <a:ext cx="2011680" cy="1097280"/>
          </a:xfrm>
          <a:prstGeom prst="roundRect">
            <a:avLst/>
          </a:prstGeom>
          <a:solidFill>
            <a:srgbClr val="12121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651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4E4E7"/>
                </a:solidFill>
                <a:latin typeface="Calibri"/>
              </a:defRPr>
            </a:pPr>
            <a:r>
              <a:t>Supabase</a:t>
            </a:r>
            <a:br/>
            <a:r>
              <a:t>Postgres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  <a:latin typeface="Calibri"/>
              </a:defRPr>
            </a:pPr>
            <a:r>
              <a:t>Runtime receives trigger (lead, command, schedule)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87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87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  <a:latin typeface="Calibri"/>
              </a:defRPr>
            </a:pPr>
            <a:r>
              <a:t>Runtime calls load_brain() on Supabase — SQL query returns JSONB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354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4E4E7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354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  <a:latin typeface="Calibri"/>
              </a:defRPr>
            </a:pPr>
            <a:r>
              <a:t>Runtime injects loaded data into prompt + current task 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8289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82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  <a:latin typeface="Calibri"/>
              </a:defRPr>
            </a:pPr>
            <a:r>
              <a:t>Runtime sends enriched prompt to LLM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30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30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  <a:latin typeface="Calibri"/>
              </a:defRPr>
            </a:pPr>
            <a:r>
              <a:t>LLM performs reasoning over the context and returns structured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77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  <a:latin typeface="Calibri"/>
              </a:defRPr>
            </a:pPr>
            <a:r>
              <a:t>Runtime receives LLM output, executes tools, takes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9253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  <a:latin typeface="Calibri"/>
              </a:defRPr>
            </a:pPr>
            <a:r>
              <a:t>Runtime saves important results back to Supabase via write functions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4E4E7"/>
                </a:solidFill>
                <a:latin typeface="Calibri"/>
              </a:defRPr>
            </a:pPr>
            <a:r>
              <a:t>INDUSTRY CITATIONS: FRAMEWORK DOCUMENTATION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097280"/>
          </a:xfrm>
          <a:prstGeom prst="round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CrewAI Memory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"Memory is a separate component configured independently from agents and crews."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https://docs.crewai.com/en/concepts/memory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1247120" cy="1097280"/>
          </a:xfrm>
          <a:prstGeom prst="round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LangChain Memory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"Memory storage uses external stores. InMemoryStore saves to dictionary; use DB-backed store in production."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https://docs.langchain.com/oss/python/concepts/memory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11247120" cy="1097280"/>
          </a:xfrm>
          <a:prstGeom prst="round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59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MongoDB + LangGraph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"Agent memory is a computational exocortex — integrates LLM context with persistent memory management system."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79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https://www.mongodb.com/company/blog/product-release-announcements/powering-long-term-memory-for-agents-langgraph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Supabase Agent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"Most agent stacks require vector DB, auth, file store, API layer, separate Postgres. Supabase replaces all of them."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https://supabase.com/solutions/agents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4E4E7"/>
                </a:solidFill>
                <a:latin typeface="Calibri"/>
              </a:defRPr>
            </a:pPr>
            <a:r>
              <a:t>INDUSTRY CITATIONS: ARCHITECTURE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097280"/>
          </a:xfrm>
          <a:prstGeom prst="round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Thinking.inc — Agentic AI Architecture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"The architecture required for agent systems — tool registries, orchestration layers, memory systems — goes well beyond what a generative AI application needs."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https://thinking.inc/en/pillar-pages/agentic-ai-architecture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1247120" cy="1097280"/>
          </a:xfrm>
          <a:prstGeom prst="round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Kore.ai — Multi-Agent Orchestration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"Multi-agent orchestration is the coordinated management of multiple AI agents so they work together as a unified, goal-driven system."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https://www.kore.ai/blog/what-is-multi-agent-orchestration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11247120" cy="1097280"/>
          </a:xfrm>
          <a:prstGeom prst="round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59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Dev.to — LangGraph Memory Walkthrough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"The LLM is stateless by design. Memory is always an infrastructure concern. The model only knows what is in the context window at inference time."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79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https://dev.to/sreeni5018/five-agent-memory-types-in-langgraph-a-deep-code-walkthrough-part-2-17kb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Menlo Ventures GenAI Stack (via Medium)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"The orchestration layer connects foundation models, data systems, and observability tools to create robust AI applications."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https://medium.com/@akankshasinha247/agent-orchestration-when-to-use-langchain-langgraph-autogen-or-build-an-agentic-rag-system-cc298f785ea4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WHAT "SUPABASE IS THE BRAIN" GETS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200400" cy="457200"/>
          </a:xfrm>
          <a:prstGeom prst="rect">
            <a:avLst/>
          </a:prstGeom>
          <a:solidFill>
            <a:srgbClr val="1A1A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Calibri"/>
              </a:defRPr>
            </a:pPr>
            <a:r>
              <a:t>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188720"/>
            <a:ext cx="4114800" cy="457200"/>
          </a:xfrm>
          <a:prstGeom prst="rect">
            <a:avLst/>
          </a:prstGeom>
          <a:solidFill>
            <a:srgbClr val="1A1A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234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Calibri"/>
              </a:defRPr>
            </a:pPr>
            <a:r>
              <a:t>WHY IT'S TECHNICALLY INCORRECT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188720"/>
            <a:ext cx="3931920" cy="457200"/>
          </a:xfrm>
          <a:prstGeom prst="rect">
            <a:avLst/>
          </a:prstGeom>
          <a:solidFill>
            <a:srgbClr val="1A1A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Calibri"/>
              </a:defRPr>
            </a:pPr>
            <a:r>
              <a:t>WHAT'S ACTUALLY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320040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Calibri"/>
              </a:defRPr>
            </a:pPr>
            <a:r>
              <a:t>"Supabase is Jade's brain"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645920"/>
            <a:ext cx="411480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7373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A database does not think, reason, or make decisions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93192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37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Supabase stores data that the runtime loads and sends to the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320040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Calibri"/>
              </a:defRPr>
            </a:pPr>
            <a:r>
              <a:t>"Jade lives in Supabase"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514600"/>
            <a:ext cx="411480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26060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Code runs as a process, not inside a database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514600"/>
            <a:ext cx="393192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Jade's runtime code loads memory from Supabase at session start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320040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Calibri"/>
              </a:defRPr>
            </a:pPr>
            <a:r>
              <a:t>"The brain loads context"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383280"/>
            <a:ext cx="411480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347472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Databases don't load context into anything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383280"/>
            <a:ext cx="393192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4747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The runtime calls load_brain() and injects results into prompts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320040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434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Calibri"/>
              </a:defRPr>
            </a:pPr>
            <a:r>
              <a:t>"Brain functions think"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4251960"/>
            <a:ext cx="411480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43434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SQL functions return data; they do not reason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251960"/>
            <a:ext cx="3931920" cy="822960"/>
          </a:xfrm>
          <a:prstGeom prst="rect">
            <a:avLst/>
          </a:prstGeom>
          <a:solidFill>
            <a:srgbClr val="12121A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3434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load_brain() returns JSONB. The LLM reasons over that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4E7"/>
                </a:solidFill>
                <a:latin typeface="Calibri"/>
              </a:defRPr>
            </a:pPr>
            <a:r>
              <a:t>THE CORRECT ANALOGY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36576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SUPABASE =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Stores vast amounts of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Organized for efficient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Does NOT answer questions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A library ≠ a librarian's brain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474720" cy="36576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LLM = LIBRARIAN'S BRAIN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Processes and reasons over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Finds relevant data from the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Synthesizes answers from retrieved 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4612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Stateless — forgets between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45920"/>
            <a:ext cx="3474720" cy="36576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8288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RUNTIME = LIBRARIAN'S BODY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860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Goes to the library and retrieves books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0604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Delivers answers to patrons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260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Takes action based on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4612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Coordinates the whole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4E7"/>
                </a:solidFill>
                <a:latin typeface="Calibri"/>
              </a:defRPr>
            </a:pPr>
            <a:r>
              <a:t>DEPLOYMENT REALITY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36576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ONLY SUPABASE (Layer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Database with tables and functions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No code is querying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No LLM is reasoning over the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Result: Dead data. Nothing happens.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474720" cy="36576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ONLY RUNTIME (Layer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Process starts, calls load_brain()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Gets connection error — no 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Falls back to local prompts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Result: Stateless agent. No persistent memory.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474720" cy="36576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55448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ONLY LLM (Layer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Can have conversations with AI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Stateless — forgets between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5176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No persistent project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7180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→ Result: Isolated chat completions. No agent system.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12121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ALL THREE LAYERS MUST BE DEPLOYED AND CONNECTED.</a:t>
            </a:r>
            <a:br/>
            <a:r>
              <a:t>The runtime is the glue that makes the system functional.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4E4E7"/>
                </a:solidFill>
                <a:latin typeface="Calibri"/>
              </a:defRPr>
            </a:pPr>
            <a:r>
              <a:t>FULL CITATION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CrewAI Memory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https://docs.crewai.com/en/concepts/memory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LangChain Memory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https://docs.langchain.com/oss/python/concepts/memory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MongoDB + LangGraph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202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https://www.mongodb.com/company/blog/product-release-announcements/powering-long-term-memory-for-agents-langgraph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Thinking.inc — Agentic AI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https://thinking.inc/en/pillar-pages/agentic-ai-architecture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Kore.ai — Multi-Agent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6517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https://www.kore.ai/blog/what-is-multi-agent-orchestration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Supabase — Agent Solutions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0175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https://supabase.com/solutions/agents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3832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83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Medium — Cognitive Orchestration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38327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https://medium.com/@raktims2210/cognitive-orchestration-layer-the-next-enterprise-ai-architecture-that-lets-hundreds-of-agents-35dd427811f3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490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Menlo Ventures GenAI Stack (via Medium)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74903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https://medium.com/@akankshasinha247/agent-orchestration-when-to-use-langchain-langgraph-autogen-or-build-an-agentic-rag-system-cc298f785ea4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9.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LinkedIn — AI's Memory Bottleneck (Fivetran report)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1148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https://www.linkedin.com/posts/tobiemorganhitchcock_the-ai-race-is-now-about-databases-not-activity-7341483033788633088-jfaF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480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10.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4E4E7"/>
                </a:solidFill>
                <a:latin typeface="Calibri"/>
              </a:defRPr>
            </a:pPr>
            <a:r>
              <a:t>Dev.to — LangGraph Memory Walkthrough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480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https://dev.to/sreeni5018/five-agent-memory-types-in-langgraph-a-deep-code-walkthrough-part-2-17kb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4E7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32720" cy="4114800"/>
          </a:xfrm>
          <a:prstGeom prst="roundRect">
            <a:avLst/>
          </a:prstGeom>
          <a:solidFill>
            <a:srgbClr val="12121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4E4E7"/>
                </a:solidFill>
                <a:latin typeface="Calibri"/>
              </a:defRPr>
            </a:pPr>
            <a:r>
              <a:t>The three-layer architecture — Runtime (orchestration), LLM (reasoning), Memory (storage) — is:</a:t>
            </a:r>
            <a:br/>
            <a:br/>
            <a:r>
              <a:t>1.  How the code actually works — verified by reading main.py, craftura_crew.py, and jade-brain-v1.sql</a:t>
            </a:r>
            <a:br/>
            <a:br/>
            <a:r>
              <a:t>2.  How CrewAI is designed — memory is explicitly a separate component from agents</a:t>
            </a:r>
            <a:br/>
            <a:br/>
            <a:r>
              <a:t>3.  How LangChain/LangGraph is designed — memory stores are external to graph orchestration</a:t>
            </a:r>
            <a:br/>
            <a:br/>
            <a:r>
              <a:t>4.  How Supabase positions itself — as data infrastructure for agents, not as intelligence</a:t>
            </a:r>
            <a:br/>
            <a:br/>
            <a:r>
              <a:t>5.  How every production agent system works — orchestration, reasoning, and memory are distinct layers</a:t>
            </a:r>
            <a:br/>
            <a:br/>
            <a:r>
              <a:t>The best option — the most cited, most technically clean option — is to recognize all three layers as distinct, deploy all three layers, and connect them properly through the runtime orchestration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